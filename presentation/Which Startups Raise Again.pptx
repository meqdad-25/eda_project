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200" d="100"/>
          <a:sy n="200" d="100"/>
        </p:scale>
        <p:origin x="6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13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0297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249" y="2555302"/>
            <a:ext cx="4829175" cy="827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Picking seed-stage startups that go on to secure more funding</a:t>
            </a:r>
            <a:endParaRPr lang="en-US" sz="2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8569" y="574801"/>
            <a:ext cx="3871131" cy="23966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2925" y="4432697"/>
            <a:ext cx="85725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Presenter:</a:t>
            </a: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Meqdad Muhana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2925" y="4689871"/>
            <a:ext cx="85725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 12, 2026</a:t>
            </a:r>
            <a:endParaRPr lang="en-US" sz="125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56A827A4-5CC6-F4E9-3611-6702188E2B87}"/>
              </a:ext>
            </a:extLst>
          </p:cNvPr>
          <p:cNvSpPr/>
          <p:nvPr/>
        </p:nvSpPr>
        <p:spPr>
          <a:xfrm>
            <a:off x="390525" y="793357"/>
            <a:ext cx="7696200" cy="669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350" b="1" kern="0" spc="-2" dirty="0">
                <a:solidFill>
                  <a:srgbClr val="1A365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WHICH STARTUPS RAISE AGAIN?</a:t>
            </a:r>
            <a:endParaRPr lang="en-US" sz="4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60642"/>
            <a:ext cx="8572500" cy="45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kern="0" spc="-1" dirty="0">
                <a:solidFill>
                  <a:srgbClr val="1A365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HOW VENTURE CAPITAL MAKES MONEY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571500" y="1819703"/>
            <a:ext cx="2571750" cy="2128838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819703"/>
            <a:ext cx="57150" cy="212883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964364"/>
            <a:ext cx="342900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2543008"/>
            <a:ext cx="2457450" cy="535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VC firms invest small "seed" cheques in very young startups</a:t>
            </a:r>
            <a:endParaRPr lang="en-US" sz="1500" b="1" dirty="0"/>
          </a:p>
        </p:txBody>
      </p:sp>
      <p:sp>
        <p:nvSpPr>
          <p:cNvPr id="8" name="Shape 4"/>
          <p:cNvSpPr/>
          <p:nvPr/>
        </p:nvSpPr>
        <p:spPr>
          <a:xfrm>
            <a:off x="3286125" y="1819703"/>
            <a:ext cx="2571750" cy="2128838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3286125" y="1819703"/>
            <a:ext cx="57150" cy="212883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0425" y="1964364"/>
            <a:ext cx="257175" cy="342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00425" y="2543008"/>
            <a:ext cx="2457450" cy="535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Firms profit only if a startup raises AGAIN and grows</a:t>
            </a:r>
            <a:endParaRPr lang="en-US" sz="1500" b="1" dirty="0"/>
          </a:p>
        </p:txBody>
      </p:sp>
      <p:sp>
        <p:nvSpPr>
          <p:cNvPr id="12" name="Shape 7"/>
          <p:cNvSpPr/>
          <p:nvPr/>
        </p:nvSpPr>
        <p:spPr>
          <a:xfrm>
            <a:off x="6000750" y="1819703"/>
            <a:ext cx="2571750" cy="2128838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6000750" y="1819703"/>
            <a:ext cx="57150" cy="212883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5050" y="1964364"/>
            <a:ext cx="342900" cy="3429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15050" y="2543008"/>
            <a:ext cx="2457450" cy="535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startup that raises seed and never raises again has "stalled"</a:t>
            </a:r>
            <a:endParaRPr lang="en-US" sz="15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60642"/>
            <a:ext cx="8715375" cy="45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kern="0" spc="-1" dirty="0">
                <a:solidFill>
                  <a:srgbClr val="1A365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THE FIRM'S PROBLEM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428625" y="1419653"/>
            <a:ext cx="4057650" cy="1374446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419653"/>
            <a:ext cx="57150" cy="1374446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13" y="1517879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7213" y="2034015"/>
            <a:ext cx="3900488" cy="244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firm keeps backing seed startups that stall</a:t>
            </a:r>
            <a:endParaRPr lang="en-US" sz="1500" b="1" dirty="0"/>
          </a:p>
        </p:txBody>
      </p:sp>
      <p:sp>
        <p:nvSpPr>
          <p:cNvPr id="8" name="Shape 4"/>
          <p:cNvSpPr/>
          <p:nvPr/>
        </p:nvSpPr>
        <p:spPr>
          <a:xfrm>
            <a:off x="4629150" y="1419653"/>
            <a:ext cx="4086225" cy="1374446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4629150" y="1419653"/>
            <a:ext cx="57150" cy="1374446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517879"/>
            <a:ext cx="178594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86313" y="2034015"/>
            <a:ext cx="3929063" cy="244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has $10M to invest and wants to stop guessing</a:t>
            </a:r>
            <a:endParaRPr lang="en-US" sz="1500" b="1" dirty="0"/>
          </a:p>
        </p:txBody>
      </p:sp>
      <p:sp>
        <p:nvSpPr>
          <p:cNvPr id="12" name="Text 7"/>
          <p:cNvSpPr/>
          <p:nvPr/>
        </p:nvSpPr>
        <p:spPr>
          <a:xfrm>
            <a:off x="428625" y="3470875"/>
            <a:ext cx="828675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365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"Which seed startups have historically gone on to raise again?"</a:t>
            </a:r>
            <a:endParaRPr lang="en-US" sz="2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817792"/>
            <a:ext cx="8715375" cy="45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kern="0" spc="-1" dirty="0">
                <a:solidFill>
                  <a:srgbClr val="1A365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THE DATA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485775" y="1719689"/>
            <a:ext cx="2705081" cy="1343025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85775" y="1719689"/>
            <a:ext cx="57150" cy="1343025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1789340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8650" y="2291189"/>
            <a:ext cx="2562206" cy="454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~49,000 companies worldwide (Crunchbase)</a:t>
            </a:r>
            <a:endParaRPr lang="en-US" sz="1400" b="1" dirty="0"/>
          </a:p>
        </p:txBody>
      </p:sp>
      <p:sp>
        <p:nvSpPr>
          <p:cNvPr id="8" name="Shape 4"/>
          <p:cNvSpPr/>
          <p:nvPr/>
        </p:nvSpPr>
        <p:spPr>
          <a:xfrm>
            <a:off x="3276581" y="1719689"/>
            <a:ext cx="2705109" cy="1343025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3276581" y="1719689"/>
            <a:ext cx="57150" cy="1343025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456" y="1789340"/>
            <a:ext cx="285750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19456" y="2291189"/>
            <a:ext cx="2562234" cy="454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Cleaned the data, focused on the 13,839 that raised seed</a:t>
            </a:r>
            <a:endParaRPr lang="en-US" sz="1400" b="1" dirty="0"/>
          </a:p>
        </p:txBody>
      </p:sp>
      <p:sp>
        <p:nvSpPr>
          <p:cNvPr id="12" name="Shape 7"/>
          <p:cNvSpPr/>
          <p:nvPr/>
        </p:nvSpPr>
        <p:spPr>
          <a:xfrm>
            <a:off x="6067416" y="1719689"/>
            <a:ext cx="2705081" cy="1343025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6067416" y="1719689"/>
            <a:ext cx="57150" cy="1343025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291" y="1789340"/>
            <a:ext cx="285750" cy="285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10291" y="2291189"/>
            <a:ext cx="2562206" cy="454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"Success" = raised more than one funding round</a:t>
            </a:r>
            <a:endParaRPr lang="en-US" sz="1400" b="1" dirty="0"/>
          </a:p>
        </p:txBody>
      </p:sp>
      <p:sp>
        <p:nvSpPr>
          <p:cNvPr id="16" name="Text 10"/>
          <p:cNvSpPr/>
          <p:nvPr/>
        </p:nvSpPr>
        <p:spPr>
          <a:xfrm>
            <a:off x="485775" y="3162732"/>
            <a:ext cx="87153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in Python.</a:t>
            </a:r>
            <a:endParaRPr lang="en-US" sz="95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60642"/>
            <a:ext cx="8572500" cy="45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kern="0" spc="-1" dirty="0">
                <a:solidFill>
                  <a:srgbClr val="1A365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WHAT WE'LL COVER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571500" y="1934003"/>
            <a:ext cx="1871663" cy="2414588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934003"/>
            <a:ext cx="1871663" cy="5715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4375" y="2148315"/>
            <a:ext cx="158591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731" y="2417992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4375" y="3123437"/>
            <a:ext cx="1585913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baseline problem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614613" y="1934003"/>
            <a:ext cx="1871663" cy="2414588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614613" y="1934003"/>
            <a:ext cx="1871663" cy="5715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2757488" y="2148315"/>
            <a:ext cx="158591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1844" y="2417992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57488" y="3123437"/>
            <a:ext cx="1585913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Industry analysis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657725" y="1934003"/>
            <a:ext cx="1871663" cy="2414588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657725" y="1934003"/>
            <a:ext cx="1871663" cy="5715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4800600" y="2148315"/>
            <a:ext cx="158591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2106" y="2417992"/>
            <a:ext cx="3429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00600" y="3123437"/>
            <a:ext cx="1585913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Geography &amp; Location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700838" y="1934003"/>
            <a:ext cx="1871663" cy="2414588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6700838" y="1934003"/>
            <a:ext cx="1871663" cy="5715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6843713" y="2148315"/>
            <a:ext cx="158591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</a:t>
            </a:r>
            <a:endParaRPr lang="en-US" sz="10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8069" y="2417992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43713" y="3123437"/>
            <a:ext cx="1585913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Timing &amp; Strategy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kern="0" spc="-1" dirty="0">
                <a:solidFill>
                  <a:srgbClr val="1A365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THE BASELINE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2414671" y="1650853"/>
            <a:ext cx="4314658" cy="2371725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2414671" y="1650853"/>
            <a:ext cx="57150" cy="2371725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28996" y="1934817"/>
            <a:ext cx="3686008" cy="12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9350" b="1" dirty="0">
                <a:solidFill>
                  <a:srgbClr val="1A365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41%</a:t>
            </a:r>
            <a:endParaRPr lang="en-US" sz="9350" dirty="0"/>
          </a:p>
        </p:txBody>
      </p:sp>
      <p:sp>
        <p:nvSpPr>
          <p:cNvPr id="7" name="Text 4"/>
          <p:cNvSpPr/>
          <p:nvPr/>
        </p:nvSpPr>
        <p:spPr>
          <a:xfrm>
            <a:off x="2728996" y="3306417"/>
            <a:ext cx="3686008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seed startups raise again</a:t>
            </a:r>
            <a:endParaRPr lang="en-US" sz="2250" b="1" dirty="0"/>
          </a:p>
        </p:txBody>
      </p:sp>
      <p:sp>
        <p:nvSpPr>
          <p:cNvPr id="8" name="Text 5"/>
          <p:cNvSpPr/>
          <p:nvPr/>
        </p:nvSpPr>
        <p:spPr>
          <a:xfrm>
            <a:off x="2728996" y="3736828"/>
            <a:ext cx="3686008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Nearly 6 in 10 stall</a:t>
            </a:r>
            <a:endParaRPr lang="en-US" sz="15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60642"/>
            <a:ext cx="8572500" cy="45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kern="0" spc="-1" dirty="0">
                <a:solidFill>
                  <a:srgbClr val="1A365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INDUSTRY IS THE BIGGEST LEVER</a:t>
            </a:r>
            <a:endParaRPr lang="en-US" sz="2850" dirty="0"/>
          </a:p>
        </p:txBody>
      </p:sp>
      <p:sp>
        <p:nvSpPr>
          <p:cNvPr id="6" name="Shape 2"/>
          <p:cNvSpPr/>
          <p:nvPr/>
        </p:nvSpPr>
        <p:spPr>
          <a:xfrm>
            <a:off x="4829175" y="2109518"/>
            <a:ext cx="3743325" cy="582913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4829175" y="2109518"/>
            <a:ext cx="57150" cy="582913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763" y="2180955"/>
            <a:ext cx="128588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72075" y="2200600"/>
            <a:ext cx="889397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365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Best Performers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4957763" y="2395268"/>
            <a:ext cx="3614738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60%, Health Care 54%, Biotech 53%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4829175" y="3301578"/>
            <a:ext cx="3743325" cy="582913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4829175" y="3301578"/>
            <a:ext cx="57150" cy="582913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7763" y="3373016"/>
            <a:ext cx="128588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72075" y="3392661"/>
            <a:ext cx="96340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365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Worst Performers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4957763" y="3587328"/>
            <a:ext cx="3614738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 26%, Fashion &amp; E-Commerce ~35%</a:t>
            </a:r>
            <a:endParaRPr lang="en-US" sz="12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F45BCD2-BE44-7F6A-D39D-96CDA00CF1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963" y="1401775"/>
            <a:ext cx="4231353" cy="33765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2521"/>
            <a:ext cx="8572500" cy="45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kern="0" spc="-1" dirty="0">
                <a:solidFill>
                  <a:srgbClr val="1A365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LOCATION MATTERS TOO</a:t>
            </a:r>
            <a:endParaRPr lang="en-US" sz="2850" dirty="0"/>
          </a:p>
        </p:txBody>
      </p:sp>
      <p:sp>
        <p:nvSpPr>
          <p:cNvPr id="6" name="Shape 2"/>
          <p:cNvSpPr/>
          <p:nvPr/>
        </p:nvSpPr>
        <p:spPr>
          <a:xfrm>
            <a:off x="5086350" y="1537408"/>
            <a:ext cx="3486150" cy="722914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086350" y="1537408"/>
            <a:ext cx="57150" cy="722914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363" y="1580270"/>
            <a:ext cx="107156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64956" y="1599915"/>
            <a:ext cx="605935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65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USA Leads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5186363" y="1780295"/>
            <a:ext cx="3386138" cy="480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 follow-on rate and represents over half the global data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5086350" y="2497373"/>
            <a:ext cx="3486150" cy="482901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5086350" y="2497373"/>
            <a:ext cx="57150" cy="482901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6363" y="2540236"/>
            <a:ext cx="107156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64956" y="2559881"/>
            <a:ext cx="1091646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65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 Ecosystems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186363" y="2740261"/>
            <a:ext cx="3386138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Japan also beat the average at 45%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086350" y="3271433"/>
            <a:ext cx="3486150" cy="722914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5086350" y="3271433"/>
            <a:ext cx="57150" cy="722914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6363" y="3314296"/>
            <a:ext cx="107156" cy="1714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64956" y="3333941"/>
            <a:ext cx="932948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65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Lagging Regions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5186363" y="3514321"/>
            <a:ext cx="338613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Chile (13%) and India (29%) lag far behind the baseline</a:t>
            </a:r>
            <a:endParaRPr lang="en-US" sz="12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2BCDA0E-D77F-EF1A-3270-7662BBDF5C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305" y="1219628"/>
            <a:ext cx="4423392" cy="35333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65405"/>
            <a:ext cx="8572500" cy="45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kern="0" spc="-1" dirty="0">
                <a:solidFill>
                  <a:srgbClr val="1A365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HOW LONG TO WAIT BEFORE GIVING UP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571500" y="1810187"/>
            <a:ext cx="2552691" cy="2072022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810187"/>
            <a:ext cx="57150" cy="207202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940560"/>
            <a:ext cx="342900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4375" y="2519204"/>
            <a:ext cx="2409816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365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~10 Months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14376" y="2868885"/>
            <a:ext cx="2442632" cy="50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typical follow-on round comes in this timeframe.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3295641" y="1810187"/>
            <a:ext cx="2552691" cy="1971675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295641" y="1810187"/>
            <a:ext cx="57150" cy="1971675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516" y="1940560"/>
            <a:ext cx="300038" cy="342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38516" y="2519204"/>
            <a:ext cx="2409816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365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24 Months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438516" y="2868885"/>
            <a:ext cx="2071697" cy="50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 of winners raise again within 2 years.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019781" y="1810187"/>
            <a:ext cx="2552719" cy="1971675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6019781" y="1810187"/>
            <a:ext cx="57150" cy="1971675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2656" y="1940560"/>
            <a:ext cx="342900" cy="3429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62656" y="2519204"/>
            <a:ext cx="2409844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365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2-Year Rule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162656" y="2868885"/>
            <a:ext cx="2324119" cy="50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Silent past 2 years → treat as stalled.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479649"/>
            <a:ext cx="8572500" cy="45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kern="0" spc="-1" dirty="0">
                <a:solidFill>
                  <a:srgbClr val="1A365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PUTTING THE FILTERS TOGETHER</a:t>
            </a:r>
            <a:endParaRPr lang="en-US" sz="2850" dirty="0"/>
          </a:p>
        </p:txBody>
      </p:sp>
      <p:sp>
        <p:nvSpPr>
          <p:cNvPr id="6" name="Shape 2"/>
          <p:cNvSpPr/>
          <p:nvPr/>
        </p:nvSpPr>
        <p:spPr>
          <a:xfrm>
            <a:off x="628650" y="3805674"/>
            <a:ext cx="8001000" cy="960109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628650" y="3805674"/>
            <a:ext cx="57150" cy="960109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800100" y="4152774"/>
            <a:ext cx="7829550" cy="265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Screening by winning industry + geography lifts the hit rate from 41% to 61%</a:t>
            </a:r>
            <a:endParaRPr lang="en-US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EB78DC-0150-80B7-79A2-965C1D754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9122" y="1007484"/>
            <a:ext cx="5565756" cy="27293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60642"/>
            <a:ext cx="8715375" cy="45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kern="0" spc="-1" dirty="0">
                <a:solidFill>
                  <a:srgbClr val="1A365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WHAT TO DO WITH THE $10M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428625" y="1505378"/>
            <a:ext cx="4100513" cy="1137252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505378"/>
            <a:ext cx="57150" cy="113725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91103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5825" y="1639323"/>
            <a:ext cx="734175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65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Sector Focus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71500" y="1991153"/>
            <a:ext cx="3957638" cy="419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Favor Finance, Health Care, Biotech, and enterprise software</a:t>
            </a:r>
            <a:endParaRPr lang="en-US" sz="1250" b="1" dirty="0"/>
          </a:p>
        </p:txBody>
      </p:sp>
      <p:sp>
        <p:nvSpPr>
          <p:cNvPr id="9" name="Shape 5"/>
          <p:cNvSpPr/>
          <p:nvPr/>
        </p:nvSpPr>
        <p:spPr>
          <a:xfrm>
            <a:off x="4614863" y="1505378"/>
            <a:ext cx="4100513" cy="1137252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614863" y="1505378"/>
            <a:ext cx="57150" cy="113725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738" y="1591103"/>
            <a:ext cx="17145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14913" y="1639323"/>
            <a:ext cx="639599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65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Geography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757738" y="1991153"/>
            <a:ext cx="3957638" cy="419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 toward the US and other strong ecosystems like Japan</a:t>
            </a:r>
            <a:endParaRPr lang="en-US" sz="1250" b="1" dirty="0"/>
          </a:p>
        </p:txBody>
      </p:sp>
      <p:sp>
        <p:nvSpPr>
          <p:cNvPr id="14" name="Shape 9"/>
          <p:cNvSpPr/>
          <p:nvPr/>
        </p:nvSpPr>
        <p:spPr>
          <a:xfrm>
            <a:off x="428625" y="2728354"/>
            <a:ext cx="4100513" cy="1137252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28625" y="2728354"/>
            <a:ext cx="57150" cy="113725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814079"/>
            <a:ext cx="17145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8675" y="2862300"/>
            <a:ext cx="692497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65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Timing Rule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571500" y="3214129"/>
            <a:ext cx="3957638" cy="203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 investments that don't raise again within 2 years</a:t>
            </a:r>
            <a:endParaRPr lang="en-US" sz="1250" b="1" dirty="0"/>
          </a:p>
        </p:txBody>
      </p:sp>
      <p:sp>
        <p:nvSpPr>
          <p:cNvPr id="19" name="Shape 13"/>
          <p:cNvSpPr/>
          <p:nvPr/>
        </p:nvSpPr>
        <p:spPr>
          <a:xfrm>
            <a:off x="4614863" y="2728354"/>
            <a:ext cx="4100513" cy="1137252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4614863" y="2728354"/>
            <a:ext cx="57150" cy="113725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7738" y="2814079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72063" y="2862300"/>
            <a:ext cx="998671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65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Projected Impact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4757738" y="3214129"/>
            <a:ext cx="3957638" cy="419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~7 more advancing startups from the same $10M (~48% better)</a:t>
            </a:r>
            <a:endParaRPr lang="en-US" sz="1250" b="1" dirty="0"/>
          </a:p>
        </p:txBody>
      </p:sp>
      <p:sp>
        <p:nvSpPr>
          <p:cNvPr id="24" name="Text 17"/>
          <p:cNvSpPr/>
          <p:nvPr/>
        </p:nvSpPr>
        <p:spPr>
          <a:xfrm>
            <a:off x="428625" y="4051343"/>
            <a:ext cx="8715375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1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368</Words>
  <Application>Microsoft Office PowerPoint</Application>
  <PresentationFormat>On-screen Show (16:9)</PresentationFormat>
  <Paragraphs>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Inter</vt:lpstr>
      <vt:lpstr>Inter Black</vt:lpstr>
      <vt:lpstr>Inter Bold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Meqdad Mohamed Mohsen Ali Muhana</cp:lastModifiedBy>
  <cp:revision>2</cp:revision>
  <dcterms:created xsi:type="dcterms:W3CDTF">2026-07-11T23:39:22Z</dcterms:created>
  <dcterms:modified xsi:type="dcterms:W3CDTF">2026-07-11T23:53:49Z</dcterms:modified>
</cp:coreProperties>
</file>